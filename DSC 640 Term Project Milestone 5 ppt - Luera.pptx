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4" r:id="rId4"/>
    <p:sldId id="275" r:id="rId5"/>
    <p:sldId id="271" r:id="rId6"/>
    <p:sldId id="272" r:id="rId7"/>
    <p:sldId id="27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8"/>
    <p:restoredTop sz="95233"/>
  </p:normalViewPr>
  <p:slideViewPr>
    <p:cSldViewPr snapToGrid="0">
      <p:cViewPr varScale="1">
        <p:scale>
          <a:sx n="147" d="100"/>
          <a:sy n="147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9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0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9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6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6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3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3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76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5138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20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61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81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3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47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95491-0547-F847-B9CC-27F19F91F9F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21F17-261D-A445-9F1B-03F17DF4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55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C1CF-713C-4D9D-6881-FB980C605A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childcare affordability crisis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675E3-8F31-CD58-155A-C49897C397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data-driven case for employer and policy action</a:t>
            </a:r>
          </a:p>
        </p:txBody>
      </p:sp>
    </p:spTree>
    <p:extLst>
      <p:ext uri="{BB962C8B-B14F-4D97-AF65-F5344CB8AC3E}">
        <p14:creationId xmlns:p14="http://schemas.microsoft.com/office/powerpoint/2010/main" val="23100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0BFFA9-61DF-C5E4-2592-9B861969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9D020-F941-293F-8646-36DA667F1201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 to Problem</a:t>
            </a:r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Overview</a:t>
            </a:r>
          </a:p>
          <a:p>
            <a:r>
              <a:rPr lang="en-US" dirty="0"/>
              <a:t>Childcare impact on household income</a:t>
            </a:r>
          </a:p>
          <a:p>
            <a:r>
              <a:rPr lang="en-US" dirty="0"/>
              <a:t>Counties with higher childcare costs</a:t>
            </a:r>
          </a:p>
          <a:p>
            <a:r>
              <a:rPr lang="en-US" dirty="0"/>
              <a:t>States with higher childcare costs</a:t>
            </a:r>
          </a:p>
          <a:p>
            <a:r>
              <a:rPr lang="en-US" dirty="0"/>
              <a:t>Action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Next Steps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762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A5A18-A084-D140-C398-5723FC15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23BC96-2657-D57E-3D44-979EBD18B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1DCF6-E888-DBBA-844F-08B76309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F61E2-DED3-0CED-79A7-55DFF8F6151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alpha val="49576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 many U.S. counties, infant center-based care costs more per year than in-state college tuition yet receives a fraction of the policy attention.</a:t>
            </a:r>
            <a:endParaRPr lang="en-US" altLang="en-US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30000"/>
              </a:lnSpc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bg1"/>
                </a:solidFill>
              </a:rPr>
              <a:t>Infant center-based care costs a median of </a:t>
            </a:r>
            <a:r>
              <a:rPr lang="en-US" altLang="en-US" b="1" dirty="0">
                <a:solidFill>
                  <a:schemeClr val="bg1"/>
                </a:solidFill>
              </a:rPr>
              <a:t>$153.60/week</a:t>
            </a:r>
            <a:r>
              <a:rPr lang="en-US" altLang="en-US" dirty="0">
                <a:solidFill>
                  <a:schemeClr val="bg1"/>
                </a:solidFill>
              </a:rPr>
              <a:t> nationally ($7,987 per year</a:t>
            </a:r>
            <a:r>
              <a:rPr lang="en-US" altLang="en-US" b="1" dirty="0">
                <a:solidFill>
                  <a:schemeClr val="bg1"/>
                </a:solidFill>
              </a:rPr>
              <a:t>).</a:t>
            </a:r>
            <a:r>
              <a:rPr lang="en-US" altLang="en-US" dirty="0">
                <a:solidFill>
                  <a:schemeClr val="bg1"/>
                </a:solidFill>
              </a:rPr>
              <a:t> </a:t>
            </a:r>
          </a:p>
          <a:p>
            <a:pPr eaLnBrk="0" fontAlgn="base" hangingPunct="0">
              <a:lnSpc>
                <a:spcPct val="130000"/>
              </a:lnSpc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bg1"/>
                </a:solidFill>
              </a:rPr>
              <a:t>The U.S. Dept. of Health and Human Services defines affordable childcare as </a:t>
            </a:r>
            <a:r>
              <a:rPr lang="en-US" altLang="en-US" b="1" dirty="0">
                <a:solidFill>
                  <a:schemeClr val="bg1"/>
                </a:solidFill>
              </a:rPr>
              <a:t>7% or less</a:t>
            </a:r>
            <a:r>
              <a:rPr lang="en-US" altLang="en-US" dirty="0">
                <a:solidFill>
                  <a:schemeClr val="bg1"/>
                </a:solidFill>
              </a:rPr>
              <a:t> of household income. </a:t>
            </a:r>
          </a:p>
          <a:p>
            <a:pPr eaLnBrk="0" fontAlgn="base" hangingPunct="0">
              <a:lnSpc>
                <a:spcPct val="130000"/>
              </a:lnSpc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bg1"/>
                </a:solidFill>
              </a:rPr>
              <a:t>The national median burden is </a:t>
            </a:r>
            <a:r>
              <a:rPr lang="en-US" altLang="en-US" b="1" dirty="0">
                <a:solidFill>
                  <a:schemeClr val="bg1"/>
                </a:solidFill>
              </a:rPr>
              <a:t>16.1%</a:t>
            </a:r>
            <a:r>
              <a:rPr lang="en-US" altLang="en-US" dirty="0">
                <a:solidFill>
                  <a:schemeClr val="bg1"/>
                </a:solidFill>
              </a:rPr>
              <a:t> (more than double the affordability threshold). </a:t>
            </a:r>
          </a:p>
          <a:p>
            <a:pPr eaLnBrk="0" fontAlgn="base" hangingPunct="0">
              <a:lnSpc>
                <a:spcPct val="130000"/>
              </a:lnSpc>
              <a:spcAft>
                <a:spcPct val="0"/>
              </a:spcAft>
              <a:buSzTx/>
            </a:pPr>
            <a:r>
              <a:rPr lang="en-US" altLang="en-US" b="1" dirty="0">
                <a:solidFill>
                  <a:schemeClr val="bg1"/>
                </a:solidFill>
              </a:rPr>
              <a:t>75% of U.S. counties</a:t>
            </a:r>
            <a:r>
              <a:rPr lang="en-US" altLang="en-US" dirty="0">
                <a:solidFill>
                  <a:schemeClr val="bg1"/>
                </a:solidFill>
              </a:rPr>
              <a:t> exceed the HHS affordability threshold entirely. </a:t>
            </a:r>
          </a:p>
          <a:p>
            <a:pPr eaLnBrk="0" fontAlgn="base" hangingPunct="0">
              <a:lnSpc>
                <a:spcPct val="130000"/>
              </a:lnSpc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bg1"/>
                </a:solidFill>
              </a:rPr>
              <a:t>For single mothers, infant care can consume </a:t>
            </a:r>
            <a:r>
              <a:rPr lang="en-US" altLang="en-US" b="1" dirty="0">
                <a:solidFill>
                  <a:schemeClr val="bg1"/>
                </a:solidFill>
              </a:rPr>
              <a:t>30 - 50%</a:t>
            </a:r>
            <a:r>
              <a:rPr lang="en-US" altLang="en-US" dirty="0">
                <a:solidFill>
                  <a:schemeClr val="bg1"/>
                </a:solidFill>
              </a:rPr>
              <a:t> of take-home pay in high-cost states.</a:t>
            </a:r>
          </a:p>
        </p:txBody>
      </p:sp>
    </p:spTree>
    <p:extLst>
      <p:ext uri="{BB962C8B-B14F-4D97-AF65-F5344CB8AC3E}">
        <p14:creationId xmlns:p14="http://schemas.microsoft.com/office/powerpoint/2010/main" val="420608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15EFF-7A57-B32D-D906-7A0CE1D9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912905-ED6D-0635-4D45-770A67D0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16002-F893-4C08-BBEE-6A052D32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Data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D19F2-F9EE-57EC-8F37-0B5A5B9A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95692"/>
          </a:xfrm>
          <a:solidFill>
            <a:schemeClr val="tx1">
              <a:alpha val="50086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14 Years of Data: 2008 through 2018, the longest national time-series for childcare prices ever published.</a:t>
            </a:r>
          </a:p>
          <a:p>
            <a:r>
              <a:rPr lang="en-US" sz="2200" dirty="0">
                <a:solidFill>
                  <a:schemeClr val="bg1"/>
                </a:solidFill>
              </a:rPr>
              <a:t>3,000+ Counties: county-level granularity across all 50 states enables local and regional comparisons.</a:t>
            </a:r>
          </a:p>
          <a:p>
            <a:r>
              <a:rPr lang="en-US" sz="2200" dirty="0">
                <a:solidFill>
                  <a:schemeClr val="bg1"/>
                </a:solidFill>
              </a:rPr>
              <a:t>227 Variables: weekly childcare prices by age group and care setting, paired with household income, poverty rates, and female labor force participation data from the American Community Survey.</a:t>
            </a:r>
          </a:p>
          <a:p>
            <a:r>
              <a:rPr lang="en-US" sz="2200" dirty="0">
                <a:solidFill>
                  <a:schemeClr val="bg1"/>
                </a:solidFill>
              </a:rPr>
              <a:t>Federal Source: published by the U.S. Dept. of Labor Women's Bureau; collected under OMB-approved protocols using state childcare market rate surveys.</a:t>
            </a:r>
          </a:p>
          <a:p>
            <a:r>
              <a:rPr lang="en-US" sz="2200" dirty="0">
                <a:solidFill>
                  <a:schemeClr val="bg1"/>
                </a:solidFill>
              </a:rPr>
              <a:t>Source: ICF. (2024). National Database of Childcare Prices. U.S. Dept. of Labor, Women's Bureau.</a:t>
            </a:r>
          </a:p>
        </p:txBody>
      </p:sp>
    </p:spTree>
    <p:extLst>
      <p:ext uri="{BB962C8B-B14F-4D97-AF65-F5344CB8AC3E}">
        <p14:creationId xmlns:p14="http://schemas.microsoft.com/office/powerpoint/2010/main" val="1835653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E1E49-8267-1CC3-15F7-9D118052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D9B729-A22F-4AA6-F149-DE0CE011F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B2E1F-DFCD-84B1-4BAB-5AFF8360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9" y="183085"/>
            <a:ext cx="11384622" cy="1478570"/>
          </a:xfrm>
        </p:spPr>
        <p:txBody>
          <a:bodyPr>
            <a:normAutofit/>
          </a:bodyPr>
          <a:lstStyle/>
          <a:p>
            <a:r>
              <a:rPr lang="en-US" dirty="0"/>
              <a:t>Childcare now consumes 14 – 16% of household income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F497F-297A-9F97-4FC1-2128054EC60B}"/>
              </a:ext>
            </a:extLst>
          </p:cNvPr>
          <p:cNvSpPr txBox="1"/>
          <p:nvPr/>
        </p:nvSpPr>
        <p:spPr>
          <a:xfrm>
            <a:off x="403689" y="1798017"/>
            <a:ext cx="3811260" cy="2308324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+ 2.7 pp - Rise in infant care burden since 2008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16.1% - Median county infant care burden in 2018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2x - HHS 7% threshold was exceeded by all age groups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C4F901-84B4-77D5-AF99-C164FCE3B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04887" y="1798017"/>
            <a:ext cx="7083424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0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79204-89FC-6061-CAF3-1C30953E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0ECC7D-6DE0-8BD5-3482-B8A66AE8A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435B0-73C1-5154-7D88-7DAFA414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9" y="183085"/>
            <a:ext cx="11384622" cy="1478570"/>
          </a:xfrm>
        </p:spPr>
        <p:txBody>
          <a:bodyPr>
            <a:normAutofit/>
          </a:bodyPr>
          <a:lstStyle/>
          <a:p>
            <a:r>
              <a:rPr lang="en-US" dirty="0"/>
              <a:t>Counties with higher childcare costs show lower women’s workforce participation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0B3CB-B9CB-CDD6-92C0-FC649CB75AFD}"/>
              </a:ext>
            </a:extLst>
          </p:cNvPr>
          <p:cNvSpPr txBox="1"/>
          <p:nvPr/>
        </p:nvSpPr>
        <p:spPr>
          <a:xfrm>
            <a:off x="403689" y="1623847"/>
            <a:ext cx="3811260" cy="3693319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downward trend confirms as weekly infant care cost rises, female LFP rate among mothers with kids under 6 declines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Outliers above $300/week tend to show wider spread, suggesting that very high-cost markets affect families differently based on income level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relationship is statistically meaningful even controlling for regional economic conditions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FA540C-4B0B-5789-5A1B-7ABB61A7E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82095" y="1623847"/>
            <a:ext cx="7083424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9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910EA-939F-2A46-8156-665892AC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1D99AF-4AFD-332B-37D2-1668580C0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AA480-C173-E6E9-40AE-9C21206A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9" y="183085"/>
            <a:ext cx="11384622" cy="1478570"/>
          </a:xfrm>
        </p:spPr>
        <p:txBody>
          <a:bodyPr>
            <a:normAutofit/>
          </a:bodyPr>
          <a:lstStyle/>
          <a:p>
            <a:r>
              <a:rPr lang="en-US" dirty="0"/>
              <a:t>Washington state’s spike reveals how volatile the childcare burden can be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985DA-7AAF-83DC-72E6-24C2B823C8D6}"/>
              </a:ext>
            </a:extLst>
          </p:cNvPr>
          <p:cNvSpPr txBox="1"/>
          <p:nvPr/>
        </p:nvSpPr>
        <p:spPr>
          <a:xfrm>
            <a:off x="403689" y="1737811"/>
            <a:ext cx="3811260" cy="3693319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Washington (green) spiked to nearly 38% of MHI in 2014 - nearly triple the HHS affordability threshold of 7%.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Alaska's gap years (2015) reflect the NDCP's imputation limitations for sparse survey states.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 state in the top 5 most expensive has seen the burden fall. For families in these states, the question is not whether childcare is affordable - it is how much unaffordable they can sustain.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298701-F4BD-4451-BFB7-195BB5BA3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04887" y="1737811"/>
            <a:ext cx="7083424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1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9D081-B435-4022-E596-A870B443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3A3CD5-31B6-4F4E-FCC7-9E08DAC6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50ED8-19BB-83ED-02B9-27A263428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Action needed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91F9E0-298A-3588-ADD3-78F6B2115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10870"/>
              </p:ext>
            </p:extLst>
          </p:nvPr>
        </p:nvGraphicFramePr>
        <p:xfrm>
          <a:off x="578195" y="1961005"/>
          <a:ext cx="11032434" cy="345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7478">
                  <a:extLst>
                    <a:ext uri="{9D8B030D-6E8A-4147-A177-3AD203B41FA5}">
                      <a16:colId xmlns:a16="http://schemas.microsoft.com/office/drawing/2014/main" val="1734773127"/>
                    </a:ext>
                  </a:extLst>
                </a:gridCol>
                <a:gridCol w="3677478">
                  <a:extLst>
                    <a:ext uri="{9D8B030D-6E8A-4147-A177-3AD203B41FA5}">
                      <a16:colId xmlns:a16="http://schemas.microsoft.com/office/drawing/2014/main" val="3493843819"/>
                    </a:ext>
                  </a:extLst>
                </a:gridCol>
                <a:gridCol w="3677478">
                  <a:extLst>
                    <a:ext uri="{9D8B030D-6E8A-4147-A177-3AD203B41FA5}">
                      <a16:colId xmlns:a16="http://schemas.microsoft.com/office/drawing/2014/main" val="40135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For Employers:</a:t>
                      </a:r>
                    </a:p>
                  </a:txBody>
                  <a:tcPr>
                    <a:solidFill>
                      <a:schemeClr val="tx1">
                        <a:alpha val="7522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For State Legislators:</a:t>
                      </a:r>
                    </a:p>
                  </a:txBody>
                  <a:tcPr>
                    <a:solidFill>
                      <a:schemeClr val="tx1">
                        <a:alpha val="7522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For HR and Benefits Leaders:</a:t>
                      </a:r>
                    </a:p>
                  </a:txBody>
                  <a:tcPr>
                    <a:solidFill>
                      <a:schemeClr val="tx1">
                        <a:alpha val="7522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22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Treat childcare subsidies as workforce infrastructure, not a discretionary perk </a:t>
                      </a:r>
                    </a:p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Offer dependent care FSA matching or direct childcare benefits to retain working parents </a:t>
                      </a:r>
                    </a:p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Companies that invest in childcare support see measurably higher female mid-career retention rates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alpha val="502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Expand childcare subsidy eligibility and increase funding - particularly for infant care, the highest-cost tier </a:t>
                      </a:r>
                    </a:p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States with stronger subsidy frameworks show lower affordability burdens and higher female workforce participation </a:t>
                      </a:r>
                    </a:p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Targeted county-level investment will be more effective than uniform statewide approaches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alpha val="502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 the NDCP county-level data to benchmark childcare costs in your employees' home counties </a:t>
                      </a:r>
                    </a:p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Partner with licensed providers to negotiate employer group rates for infant and toddler care </a:t>
                      </a:r>
                    </a:p>
                    <a:p>
                      <a:pPr marL="228600" indent="-228600"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Track female retention rates against childcare benefit utilization to measure return on investment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alpha val="5025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73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75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CAF4E-98E2-1A0F-D274-9BB5ECEC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AC2C65-81CB-10DC-7EB3-4A65A8842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57633-0965-AFA0-6E2A-4FC94DF99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12614-174B-E7EC-8D90-5FCA665E3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127" y="1952707"/>
            <a:ext cx="10884569" cy="4220887"/>
          </a:xfrm>
          <a:solidFill>
            <a:schemeClr val="tx1">
              <a:alpha val="5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Expand the NDCP analysis</a:t>
            </a:r>
            <a:r>
              <a:rPr lang="en-US" dirty="0">
                <a:solidFill>
                  <a:schemeClr val="bg1"/>
                </a:solidFill>
              </a:rPr>
              <a:t> beyond 2018 as new data becomes available to track whether the post-pandemic affordability gap has widened or narrowed</a:t>
            </a:r>
          </a:p>
          <a:p>
            <a:r>
              <a:rPr lang="en-US" b="1" dirty="0">
                <a:solidFill>
                  <a:schemeClr val="bg1"/>
                </a:solidFill>
              </a:rPr>
              <a:t>Commission county-level impact studies</a:t>
            </a:r>
            <a:r>
              <a:rPr lang="en-US" dirty="0">
                <a:solidFill>
                  <a:schemeClr val="bg1"/>
                </a:solidFill>
              </a:rPr>
              <a:t> pairing NDCP pricing data with employer turnover records to quantify the workforce cost of childcare unaffordability in specific labor markets</a:t>
            </a:r>
          </a:p>
          <a:p>
            <a:r>
              <a:rPr lang="en-US" b="1" dirty="0">
                <a:solidFill>
                  <a:schemeClr val="bg1"/>
                </a:solidFill>
              </a:rPr>
              <a:t>Advocate for federal legislation</a:t>
            </a:r>
            <a:r>
              <a:rPr lang="en-US" dirty="0">
                <a:solidFill>
                  <a:schemeClr val="bg1"/>
                </a:solidFill>
              </a:rPr>
              <a:t> requiring employer childcare benefits reporting, like existing 401(k) and health insurance disclosure requirements, to create accountability and benchmarking</a:t>
            </a:r>
          </a:p>
          <a:p>
            <a:r>
              <a:rPr lang="en-US" b="1" dirty="0">
                <a:solidFill>
                  <a:schemeClr val="bg1"/>
                </a:solidFill>
              </a:rPr>
              <a:t>Replicate this analysis at the state level</a:t>
            </a:r>
            <a:r>
              <a:rPr lang="en-US" dirty="0">
                <a:solidFill>
                  <a:schemeClr val="bg1"/>
                </a:solidFill>
              </a:rPr>
              <a:t> using the NDCP's geographic granularity to identify the specific counties within each state where subsidy investment would have the highest workforce impact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87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4594</TotalTime>
  <Words>716</Words>
  <Application>Microsoft Macintosh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The childcare affordability crisis</vt:lpstr>
      <vt:lpstr>Agenda</vt:lpstr>
      <vt:lpstr>Problem statement</vt:lpstr>
      <vt:lpstr>Data overview</vt:lpstr>
      <vt:lpstr>Childcare now consumes 14 – 16% of household income</vt:lpstr>
      <vt:lpstr>Counties with higher childcare costs show lower women’s workforce participation</vt:lpstr>
      <vt:lpstr>Washington state’s spike reveals how volatile the childcare burden can be</vt:lpstr>
      <vt:lpstr>Action needed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L</dc:creator>
  <cp:lastModifiedBy>Leo L</cp:lastModifiedBy>
  <cp:revision>8</cp:revision>
  <dcterms:created xsi:type="dcterms:W3CDTF">2026-04-10T19:44:57Z</dcterms:created>
  <dcterms:modified xsi:type="dcterms:W3CDTF">2026-05-27T16:34:16Z</dcterms:modified>
</cp:coreProperties>
</file>