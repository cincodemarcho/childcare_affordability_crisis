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/>
    <p:restoredTop sz="95233"/>
  </p:normalViewPr>
  <p:slideViewPr>
    <p:cSldViewPr snapToGrid="0">
      <p:cViewPr varScale="1">
        <p:scale>
          <a:sx n="100" d="100"/>
          <a:sy n="100" d="100"/>
        </p:scale>
        <p:origin x="36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62DBB-CCEE-9D4A-95E1-351FB3DA044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1BA3B-9EB5-7D49-8C2F-003EFB026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7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1BA3B-9EB5-7D49-8C2F-003EFB026D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4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87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5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2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1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1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2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0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7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C2EFC-AB29-994A-B008-6926973BAA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AB689-4370-9042-A3E1-15D463BDA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8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DD1F4877-9AB5-6485-8548-95764F1CD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6293715"/>
            <a:ext cx="4809744" cy="24048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B6C351-59A5-2B04-4306-C4B32B9427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/>
          <a:stretch>
            <a:fillRect/>
          </a:stretch>
        </p:blipFill>
        <p:spPr>
          <a:xfrm>
            <a:off x="104648" y="1481605"/>
            <a:ext cx="5077864" cy="2677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6E20C6-D613-8D14-38D2-69BD72B21A83}"/>
              </a:ext>
            </a:extLst>
          </p:cNvPr>
          <p:cNvSpPr txBox="1"/>
          <p:nvPr/>
        </p:nvSpPr>
        <p:spPr>
          <a:xfrm>
            <a:off x="0" y="2088"/>
            <a:ext cx="7772400" cy="830997"/>
          </a:xfrm>
          <a:prstGeom prst="rect">
            <a:avLst/>
          </a:prstGeom>
          <a:solidFill>
            <a:schemeClr val="tx1">
              <a:lumMod val="50000"/>
              <a:lumOff val="50000"/>
              <a:alpha val="47915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The Hidden Tax on Working Families: </a:t>
            </a:r>
          </a:p>
          <a:p>
            <a:pPr algn="ctr"/>
            <a:r>
              <a:rPr lang="en-US" sz="2400" b="1" dirty="0"/>
              <a:t>What Childcare Really Costs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167DF-9252-7E27-0368-3C2F1BFBBD88}"/>
              </a:ext>
            </a:extLst>
          </p:cNvPr>
          <p:cNvSpPr txBox="1"/>
          <p:nvPr/>
        </p:nvSpPr>
        <p:spPr>
          <a:xfrm>
            <a:off x="4846320" y="1390521"/>
            <a:ext cx="2706624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Most US counties report weekly infant care costs between $100 - $175, reflecting the modal experience for most working families.</a:t>
            </a:r>
          </a:p>
          <a:p>
            <a:endParaRPr lang="en-US" sz="1200" dirty="0"/>
          </a:p>
          <a:p>
            <a:r>
              <a:rPr lang="en-US" sz="1200" dirty="0"/>
              <a:t>Infant costs (blue) are right-shifted relative to toddler and preschool, confirming that younger children cost more in nearly every market.</a:t>
            </a:r>
          </a:p>
          <a:p>
            <a:endParaRPr lang="en-US" sz="1200" dirty="0"/>
          </a:p>
          <a:p>
            <a:r>
              <a:rPr lang="en-US" sz="1200" dirty="0"/>
              <a:t>The long right tail extends beyond $400/week - driven by high-cost urban metros like New York City, San Francisco, and Boston.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2FB61-02DD-E00B-2CD0-6C79CCA0DE63}"/>
              </a:ext>
            </a:extLst>
          </p:cNvPr>
          <p:cNvSpPr txBox="1"/>
          <p:nvPr/>
        </p:nvSpPr>
        <p:spPr>
          <a:xfrm>
            <a:off x="219456" y="6433165"/>
            <a:ext cx="2706624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The majority of US counties report:</a:t>
            </a:r>
          </a:p>
          <a:p>
            <a:endParaRPr lang="en-US" sz="1200" dirty="0"/>
          </a:p>
          <a:p>
            <a:r>
              <a:rPr lang="en-US" sz="1200" dirty="0"/>
              <a:t>Median FLFPR rises slightly from Q1 (67%) to Q4 (72%), the highest cost counties have marginally higher female workforce participation</a:t>
            </a:r>
          </a:p>
          <a:p>
            <a:endParaRPr lang="en-US" sz="1200" dirty="0"/>
          </a:p>
          <a:p>
            <a:r>
              <a:rPr lang="en-US" sz="1200" dirty="0"/>
              <a:t>High-cost counties are predominantly urban with higher wages. Women in these areas can afford care and earn enough to make working worthwhile. </a:t>
            </a:r>
          </a:p>
          <a:p>
            <a:endParaRPr lang="en-US" sz="1200" dirty="0"/>
          </a:p>
          <a:p>
            <a:r>
              <a:rPr lang="en-US" sz="1200" dirty="0"/>
              <a:t>The burden falls hardest on moderate-income families caught between high costs and insufficient earnings.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A6460-C138-FBC2-DD69-4C53F9EAC6CA}"/>
              </a:ext>
            </a:extLst>
          </p:cNvPr>
          <p:cNvSpPr txBox="1"/>
          <p:nvPr/>
        </p:nvSpPr>
        <p:spPr>
          <a:xfrm>
            <a:off x="219456" y="4424214"/>
            <a:ext cx="7333488" cy="17543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Employers should offer childcare subsidies as a workforce benefit. 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Legislators should expand subsidy eligibility. 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Researchers should use NDCP data to target the most burdened counties.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F8E7F-9516-43AF-3430-9A6999806DD3}"/>
              </a:ext>
            </a:extLst>
          </p:cNvPr>
          <p:cNvSpPr txBox="1"/>
          <p:nvPr/>
        </p:nvSpPr>
        <p:spPr>
          <a:xfrm>
            <a:off x="104648" y="9756000"/>
            <a:ext cx="7448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Source: U.S. Dept. of Labor Women's Bureau - National Database of Childcare Prices (2008–2018)</a:t>
            </a:r>
          </a:p>
        </p:txBody>
      </p:sp>
    </p:spTree>
    <p:extLst>
      <p:ext uri="{BB962C8B-B14F-4D97-AF65-F5344CB8AC3E}">
        <p14:creationId xmlns:p14="http://schemas.microsoft.com/office/powerpoint/2010/main" val="193559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1677</TotalTime>
  <Words>206</Words>
  <Application>Microsoft Macintosh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L</dc:creator>
  <cp:lastModifiedBy>Leo L</cp:lastModifiedBy>
  <cp:revision>5</cp:revision>
  <dcterms:created xsi:type="dcterms:W3CDTF">2026-04-26T18:02:28Z</dcterms:created>
  <dcterms:modified xsi:type="dcterms:W3CDTF">2026-05-27T16:32:49Z</dcterms:modified>
</cp:coreProperties>
</file>